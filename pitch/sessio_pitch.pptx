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PROBLEM, 0:00-0:30]</a:t>
            </a:r>
          </a:p>
          <a:p/>
          <a:p>
            <a:r>
              <a:t>"A coaching slot is like a hotel room — if it's empty tonight, the revenue is gone forever.</a:t>
            </a:r>
          </a:p>
          <a:p/>
          <a:p>
            <a:r>
              <a:t>A small sports school owner spends up to one full day per week managing confirmations on WhatsApp and tracking attendance in Excel. And even after all that work, they still lose one to two thousand euros a month to empty slots from late cancellations.</a:t>
            </a:r>
          </a:p>
          <a:p/>
          <a:p>
            <a:r>
              <a:t>The admin eats their time. The cancellations eat their revenue. And no tool on the market solves both."</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SOLUTION, 0:30-1:00]</a:t>
            </a:r>
          </a:p>
          <a:p/>
          <a:p>
            <a:r>
              <a:t>"Sessio does two things. First, it replaces WhatsApp and Excel — confirmations, attendance, cancellations, all in one app.</a:t>
            </a:r>
          </a:p>
          <a:p/>
          <a:p>
            <a:r>
              <a:t>Second — and this is the key — when a slot goes empty, Sessio offers it as a discounted booking to athletes nearby. The coach earns something instead of nothing. The athlete discovers a new coach at low risk. The empty slot becomes a marketing channel.</a:t>
            </a:r>
          </a:p>
          <a:p/>
          <a:p>
            <a:r>
              <a:t>One tool that saves time AND fills revenue gaps."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WHY NOW + WEDGE, 1:00-1:30]</a:t>
            </a:r>
          </a:p>
          <a:p/>
          <a:p>
            <a:r>
              <a:t>"Coaching demand tripled in six years, but schools still run on WhatsApp. TeachMe.To just raised ten million dollars from Sam Altman for a coaching marketplace — but they're US only, and after one session coaches take clients off-platform. Europe is wide open. Booksy proved this playbook works from Poland at over a billion in transactions.</a:t>
            </a:r>
          </a:p>
          <a:p/>
          <a:p>
            <a:r>
              <a:t>And our structural advantage: to fill empty slots in real time, you need to be both the scheduling tool and the marketplace. ActiveNow has the tool but no marketplace. TeachMe.To has the marketplace but no tool. Neither can build the other half without starting over."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BUSINESS MODEL + MARKET, 1:30-2:00]</a:t>
            </a:r>
          </a:p>
          <a:p/>
          <a:p>
            <a:r>
              <a:t>"We follow the Booksy model. SaaS subscription for the scheduling tool — schools pay because it saves them a day per week. Commission only on new clients the platform brings — thirty percent on the first visit, zero after that. Nothing to route around.</a:t>
            </a:r>
          </a:p>
          <a:p/>
          <a:p>
            <a:r>
              <a:t>Booksy built this into sixty-six million in revenue from Poland. The coaching market is fifteen billion dollars in the US, the platform layer is growing twenty-five percent per year, and over two thousand Polish schools already pay for scheduling tools. The market is there. The tools are just bad."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TRACTION + TEAM, 2:00-2:30]</a:t>
            </a:r>
          </a:p>
          <a:p/>
          <a:p>
            <a:r>
              <a:t>"The MVP is built and live. Over ten discovery calls across three countries — pain confirmed at every school at scale. Two tennis schools with four hundred-plus clients ready to pilot.</a:t>
            </a:r>
          </a:p>
          <a:p/>
          <a:p>
            <a:r>
              <a:t>Before Sessio, I was at Amazon building data systems at seventy-five million dollar scale, and two years at BCG X. I built the MVP solo with AI. I speak four languages and can sell across Central and Eastern Europe from day one. My mom runs a swimming school — that's where I first saw this problem."</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THE ASK, 2:30-3:00]</a:t>
            </a:r>
          </a:p>
          <a:p/>
          <a:p>
            <a:r>
              <a:t>"We're raising three to five hundred thousand euros pre-seed. Sixty percent goes to product — hiring one or two developers to move faster. Twenty-five percent goes to go-to-market — onboarding fifty paying schools in Warsaw.</a:t>
            </a:r>
          </a:p>
          <a:p/>
          <a:p>
            <a:r>
              <a:t>Our goal: fifty schools using Sessio daily, proof that discounted bookings fill empty slots, and enough traction to raise a seed. Warsaw is the starting point. Europe is the market. 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914400"/>
            <a:ext cx="10972800" cy="1371600"/>
          </a:xfrm>
          <a:prstGeom prst="rect">
            <a:avLst/>
          </a:prstGeom>
          <a:noFill/>
        </p:spPr>
        <p:txBody>
          <a:bodyPr wrap="square">
            <a:spAutoFit/>
          </a:bodyPr>
          <a:lstStyle/>
          <a:p>
            <a:pPr algn="l">
              <a:spcAft>
                <a:spcPts val="600"/>
              </a:spcAft>
              <a:defRPr sz="3200" b="0">
                <a:solidFill>
                  <a:srgbClr val="B0B8CC"/>
                </a:solidFill>
                <a:latin typeface="Calibri"/>
              </a:defRPr>
            </a:pPr>
            <a:r>
              <a:t>"A coaching slot is like a hotel room —</a:t>
            </a:r>
          </a:p>
          <a:p>
            <a:pPr algn="l">
              <a:spcAft>
                <a:spcPts val="600"/>
              </a:spcAft>
              <a:defRPr sz="3200" b="1">
                <a:solidFill>
                  <a:srgbClr val="FFFFFF"/>
                </a:solidFill>
                <a:latin typeface="Calibri"/>
              </a:defRPr>
            </a:pPr>
            <a:r>
              <a:t>if it's empty tonight, the revenue is gone forever."</a:t>
            </a:r>
          </a:p>
        </p:txBody>
      </p:sp>
      <p:sp>
        <p:nvSpPr>
          <p:cNvPr id="4" name="Rounded Rectangle 3"/>
          <p:cNvSpPr/>
          <p:nvPr/>
        </p:nvSpPr>
        <p:spPr>
          <a:xfrm>
            <a:off x="548640" y="2926080"/>
            <a:ext cx="5029200" cy="228600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108960"/>
            <a:ext cx="4297680" cy="2011680"/>
          </a:xfrm>
          <a:prstGeom prst="rect">
            <a:avLst/>
          </a:prstGeom>
          <a:noFill/>
        </p:spPr>
        <p:txBody>
          <a:bodyPr wrap="square">
            <a:spAutoFit/>
          </a:bodyPr>
          <a:lstStyle/>
          <a:p>
            <a:pPr algn="l">
              <a:spcAft>
                <a:spcPts val="600"/>
              </a:spcAft>
              <a:defRPr sz="1400" b="1">
                <a:solidFill>
                  <a:srgbClr val="4EA8F5"/>
                </a:solidFill>
                <a:latin typeface="Calibri"/>
              </a:defRPr>
            </a:pPr>
            <a:r>
              <a:t>⏰  ADMIN OVERHEAD</a:t>
            </a:r>
          </a:p>
          <a:p>
            <a:pPr algn="l">
              <a:spcAft>
                <a:spcPts val="600"/>
              </a:spcAft>
              <a:defRPr sz="800" b="0">
                <a:solidFill>
                  <a:srgbClr val="1A243B"/>
                </a:solidFill>
                <a:latin typeface="Calibri"/>
              </a:defRPr>
            </a:pPr>
          </a:p>
          <a:p>
            <a:pPr algn="l">
              <a:spcAft>
                <a:spcPts val="600"/>
              </a:spcAft>
              <a:defRPr sz="4000" b="1">
                <a:solidFill>
                  <a:srgbClr val="F47272"/>
                </a:solidFill>
                <a:latin typeface="Calibri"/>
              </a:defRPr>
            </a:pPr>
            <a:r>
              <a:t>1 day / week</a:t>
            </a:r>
          </a:p>
          <a:p>
            <a:pPr algn="l">
              <a:spcAft>
                <a:spcPts val="600"/>
              </a:spcAft>
              <a:defRPr sz="800" b="0">
                <a:solidFill>
                  <a:srgbClr val="1A243B"/>
                </a:solidFill>
                <a:latin typeface="Calibri"/>
              </a:defRPr>
            </a:pPr>
          </a:p>
          <a:p>
            <a:pPr algn="l">
              <a:spcAft>
                <a:spcPts val="600"/>
              </a:spcAft>
              <a:defRPr sz="1800" b="0">
                <a:solidFill>
                  <a:srgbClr val="B0B8CC"/>
                </a:solidFill>
                <a:latin typeface="Calibri"/>
              </a:defRPr>
            </a:pPr>
            <a:r>
              <a:t>spent on WhatsApp confirmations</a:t>
            </a:r>
          </a:p>
          <a:p>
            <a:pPr algn="l">
              <a:spcAft>
                <a:spcPts val="600"/>
              </a:spcAft>
              <a:defRPr sz="1800" b="0">
                <a:solidFill>
                  <a:srgbClr val="B0B8CC"/>
                </a:solidFill>
                <a:latin typeface="Calibri"/>
              </a:defRPr>
            </a:pPr>
            <a:r>
              <a:t>and Excel attendance tracking</a:t>
            </a:r>
          </a:p>
        </p:txBody>
      </p:sp>
      <p:sp>
        <p:nvSpPr>
          <p:cNvPr id="6" name="Rounded Rectangle 5"/>
          <p:cNvSpPr/>
          <p:nvPr/>
        </p:nvSpPr>
        <p:spPr>
          <a:xfrm>
            <a:off x="6400800" y="2926080"/>
            <a:ext cx="5029200" cy="228600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3108960"/>
            <a:ext cx="4297680" cy="2011680"/>
          </a:xfrm>
          <a:prstGeom prst="rect">
            <a:avLst/>
          </a:prstGeom>
          <a:noFill/>
        </p:spPr>
        <p:txBody>
          <a:bodyPr wrap="square">
            <a:spAutoFit/>
          </a:bodyPr>
          <a:lstStyle/>
          <a:p>
            <a:pPr algn="l">
              <a:spcAft>
                <a:spcPts val="600"/>
              </a:spcAft>
              <a:defRPr sz="1400" b="1">
                <a:solidFill>
                  <a:srgbClr val="4EA8F5"/>
                </a:solidFill>
                <a:latin typeface="Calibri"/>
              </a:defRPr>
            </a:pPr>
            <a:r>
              <a:t>💸  EMPTY SLOTS</a:t>
            </a:r>
          </a:p>
          <a:p>
            <a:pPr algn="l">
              <a:spcAft>
                <a:spcPts val="600"/>
              </a:spcAft>
              <a:defRPr sz="800" b="0">
                <a:solidFill>
                  <a:srgbClr val="1A243B"/>
                </a:solidFill>
                <a:latin typeface="Calibri"/>
              </a:defRPr>
            </a:pPr>
          </a:p>
          <a:p>
            <a:pPr algn="l">
              <a:spcAft>
                <a:spcPts val="600"/>
              </a:spcAft>
              <a:defRPr sz="4000" b="1">
                <a:solidFill>
                  <a:srgbClr val="F47272"/>
                </a:solidFill>
                <a:latin typeface="Calibri"/>
              </a:defRPr>
            </a:pPr>
            <a:r>
              <a:t>€1–2K / month</a:t>
            </a:r>
          </a:p>
          <a:p>
            <a:pPr algn="l">
              <a:spcAft>
                <a:spcPts val="600"/>
              </a:spcAft>
              <a:defRPr sz="800" b="0">
                <a:solidFill>
                  <a:srgbClr val="1A243B"/>
                </a:solidFill>
                <a:latin typeface="Calibri"/>
              </a:defRPr>
            </a:pPr>
          </a:p>
          <a:p>
            <a:pPr algn="l">
              <a:spcAft>
                <a:spcPts val="600"/>
              </a:spcAft>
              <a:defRPr sz="1800" b="0">
                <a:solidFill>
                  <a:srgbClr val="B0B8CC"/>
                </a:solidFill>
                <a:latin typeface="Calibri"/>
              </a:defRPr>
            </a:pPr>
            <a:r>
              <a:t>lost to last-minute cancellations</a:t>
            </a:r>
          </a:p>
          <a:p>
            <a:pPr algn="l">
              <a:spcAft>
                <a:spcPts val="600"/>
              </a:spcAft>
              <a:defRPr sz="1800" b="0">
                <a:solidFill>
                  <a:srgbClr val="B0B8CC"/>
                </a:solidFill>
                <a:latin typeface="Calibri"/>
              </a:defRPr>
            </a:pPr>
            <a:r>
              <a:t>that no one fills</a:t>
            </a:r>
          </a:p>
        </p:txBody>
      </p:sp>
      <p:sp>
        <p:nvSpPr>
          <p:cNvPr id="8" name="TextBox 7"/>
          <p:cNvSpPr txBox="1"/>
          <p:nvPr/>
        </p:nvSpPr>
        <p:spPr>
          <a:xfrm>
            <a:off x="548640" y="5669280"/>
            <a:ext cx="10972800" cy="548640"/>
          </a:xfrm>
          <a:prstGeom prst="rect">
            <a:avLst/>
          </a:prstGeom>
          <a:noFill/>
        </p:spPr>
        <p:txBody>
          <a:bodyPr wrap="square">
            <a:spAutoFit/>
          </a:bodyPr>
          <a:lstStyle/>
          <a:p>
            <a:pPr algn="l">
              <a:defRPr sz="2200" b="1">
                <a:solidFill>
                  <a:srgbClr val="FBBF24"/>
                </a:solidFill>
                <a:latin typeface="Calibri"/>
              </a:defRPr>
            </a:pPr>
            <a:r>
              <a:t>No tool on the market solves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731520"/>
            <a:ext cx="10972800" cy="731520"/>
          </a:xfrm>
          <a:prstGeom prst="rect">
            <a:avLst/>
          </a:prstGeom>
          <a:noFill/>
        </p:spPr>
        <p:txBody>
          <a:bodyPr wrap="square">
            <a:spAutoFit/>
          </a:bodyPr>
          <a:lstStyle/>
          <a:p>
            <a:pPr algn="l">
              <a:defRPr sz="3400" b="1">
                <a:solidFill>
                  <a:srgbClr val="FFFFFF"/>
                </a:solidFill>
                <a:latin typeface="Calibri"/>
              </a:defRPr>
            </a:pPr>
            <a:r>
              <a:t>One tool that saves time AND fills revenue gaps.</a:t>
            </a:r>
          </a:p>
        </p:txBody>
      </p:sp>
      <p:sp>
        <p:nvSpPr>
          <p:cNvPr id="4" name="TextBox 3"/>
          <p:cNvSpPr txBox="1"/>
          <p:nvPr/>
        </p:nvSpPr>
        <p:spPr>
          <a:xfrm>
            <a:off x="548640" y="1554480"/>
            <a:ext cx="10058400" cy="731520"/>
          </a:xfrm>
          <a:prstGeom prst="rect">
            <a:avLst/>
          </a:prstGeom>
          <a:noFill/>
        </p:spPr>
        <p:txBody>
          <a:bodyPr wrap="square">
            <a:spAutoFit/>
          </a:bodyPr>
          <a:lstStyle/>
          <a:p>
            <a:pPr algn="l">
              <a:defRPr sz="1800" b="0">
                <a:solidFill>
                  <a:srgbClr val="B0B8CC"/>
                </a:solidFill>
                <a:latin typeface="Calibri"/>
              </a:defRPr>
            </a:pPr>
            <a:r>
              <a:t>Sessio replaces WhatsApp scheduling for small sports schools and fills their empty slots by offering last-minute cancellations as discounted bookings to nearby athletes.</a:t>
            </a:r>
          </a:p>
        </p:txBody>
      </p:sp>
      <p:sp>
        <p:nvSpPr>
          <p:cNvPr id="5" name="Rounded Rectangle 4"/>
          <p:cNvSpPr/>
          <p:nvPr/>
        </p:nvSpPr>
        <p:spPr>
          <a:xfrm>
            <a:off x="548640" y="2926080"/>
            <a:ext cx="3291840" cy="25603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108960"/>
            <a:ext cx="2743200" cy="2286000"/>
          </a:xfrm>
          <a:prstGeom prst="rect">
            <a:avLst/>
          </a:prstGeom>
          <a:noFill/>
        </p:spPr>
        <p:txBody>
          <a:bodyPr wrap="square">
            <a:spAutoFit/>
          </a:bodyPr>
          <a:lstStyle/>
          <a:p>
            <a:pPr algn="l">
              <a:spcAft>
                <a:spcPts val="600"/>
              </a:spcAft>
              <a:defRPr sz="2800" b="1">
                <a:solidFill>
                  <a:srgbClr val="4EA8F5"/>
                </a:solidFill>
                <a:latin typeface="Calibri"/>
              </a:defRPr>
            </a:pPr>
            <a:r>
              <a:t>❶</a:t>
            </a:r>
          </a:p>
          <a:p>
            <a:pPr algn="l">
              <a:spcAft>
                <a:spcPts val="600"/>
              </a:spcAft>
              <a:defRPr sz="2200" b="1">
                <a:solidFill>
                  <a:srgbClr val="FFFFFF"/>
                </a:solidFill>
                <a:latin typeface="Calibri"/>
              </a:defRPr>
            </a:pPr>
            <a:r>
              <a:t>MANAGE</a:t>
            </a:r>
          </a:p>
          <a:p>
            <a:pPr algn="l">
              <a:spcAft>
                <a:spcPts val="600"/>
              </a:spcAft>
              <a:defRPr sz="600" b="0">
                <a:solidFill>
                  <a:srgbClr val="1A243B"/>
                </a:solidFill>
                <a:latin typeface="Calibri"/>
              </a:defRPr>
            </a:pPr>
          </a:p>
          <a:p>
            <a:pPr algn="l">
              <a:spcAft>
                <a:spcPts val="600"/>
              </a:spcAft>
              <a:defRPr sz="1600" b="0">
                <a:solidFill>
                  <a:srgbClr val="B0B8CC"/>
                </a:solidFill>
                <a:latin typeface="Calibri"/>
              </a:defRPr>
            </a:pPr>
            <a:r>
              <a:t>Groups, confirmations,</a:t>
            </a:r>
          </a:p>
          <a:p>
            <a:pPr algn="l">
              <a:spcAft>
                <a:spcPts val="600"/>
              </a:spcAft>
              <a:defRPr sz="1600" b="0">
                <a:solidFill>
                  <a:srgbClr val="B0B8CC"/>
                </a:solidFill>
                <a:latin typeface="Calibri"/>
              </a:defRPr>
            </a:pPr>
            <a:r>
              <a:t>attendance — all in one app.</a:t>
            </a:r>
          </a:p>
          <a:p>
            <a:pPr algn="l">
              <a:spcAft>
                <a:spcPts val="600"/>
              </a:spcAft>
              <a:defRPr sz="600" b="0">
                <a:solidFill>
                  <a:srgbClr val="1A243B"/>
                </a:solidFill>
                <a:latin typeface="Calibri"/>
              </a:defRPr>
            </a:pPr>
          </a:p>
          <a:p>
            <a:pPr algn="l">
              <a:spcAft>
                <a:spcPts val="600"/>
              </a:spcAft>
              <a:defRPr sz="1400" b="0">
                <a:solidFill>
                  <a:srgbClr val="4EA8F5"/>
                </a:solidFill>
                <a:latin typeface="Calibri"/>
              </a:defRPr>
            </a:pPr>
            <a:r>
              <a:t>Replaces WhatsApp + Excel</a:t>
            </a:r>
          </a:p>
        </p:txBody>
      </p:sp>
      <p:sp>
        <p:nvSpPr>
          <p:cNvPr id="7" name="TextBox 6"/>
          <p:cNvSpPr txBox="1"/>
          <p:nvPr/>
        </p:nvSpPr>
        <p:spPr>
          <a:xfrm>
            <a:off x="3977639" y="3657600"/>
            <a:ext cx="548640" cy="731520"/>
          </a:xfrm>
          <a:prstGeom prst="rect">
            <a:avLst/>
          </a:prstGeom>
          <a:noFill/>
        </p:spPr>
        <p:txBody>
          <a:bodyPr wrap="square">
            <a:spAutoFit/>
          </a:bodyPr>
          <a:lstStyle/>
          <a:p>
            <a:pPr algn="ctr">
              <a:defRPr sz="3600" b="0">
                <a:solidFill>
                  <a:srgbClr val="647087"/>
                </a:solidFill>
                <a:latin typeface="Calibri"/>
              </a:defRPr>
            </a:pPr>
            <a:r>
              <a:t>➜</a:t>
            </a:r>
          </a:p>
        </p:txBody>
      </p:sp>
      <p:sp>
        <p:nvSpPr>
          <p:cNvPr id="8" name="Rounded Rectangle 7"/>
          <p:cNvSpPr/>
          <p:nvPr/>
        </p:nvSpPr>
        <p:spPr>
          <a:xfrm>
            <a:off x="4480560" y="2926080"/>
            <a:ext cx="3291840" cy="25603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108960"/>
            <a:ext cx="2743200" cy="2286000"/>
          </a:xfrm>
          <a:prstGeom prst="rect">
            <a:avLst/>
          </a:prstGeom>
          <a:noFill/>
        </p:spPr>
        <p:txBody>
          <a:bodyPr wrap="square">
            <a:spAutoFit/>
          </a:bodyPr>
          <a:lstStyle/>
          <a:p>
            <a:pPr algn="l">
              <a:spcAft>
                <a:spcPts val="600"/>
              </a:spcAft>
              <a:defRPr sz="2800" b="1">
                <a:solidFill>
                  <a:srgbClr val="FBBF24"/>
                </a:solidFill>
                <a:latin typeface="Calibri"/>
              </a:defRPr>
            </a:pPr>
            <a:r>
              <a:t>❷</a:t>
            </a:r>
          </a:p>
          <a:p>
            <a:pPr algn="l">
              <a:spcAft>
                <a:spcPts val="600"/>
              </a:spcAft>
              <a:defRPr sz="2200" b="1">
                <a:solidFill>
                  <a:srgbClr val="FFFFFF"/>
                </a:solidFill>
                <a:latin typeface="Calibri"/>
              </a:defRPr>
            </a:pPr>
            <a:r>
              <a:t>CANCEL</a:t>
            </a:r>
          </a:p>
          <a:p>
            <a:pPr algn="l">
              <a:spcAft>
                <a:spcPts val="600"/>
              </a:spcAft>
              <a:defRPr sz="600" b="0">
                <a:solidFill>
                  <a:srgbClr val="1A243B"/>
                </a:solidFill>
                <a:latin typeface="Calibri"/>
              </a:defRPr>
            </a:pPr>
          </a:p>
          <a:p>
            <a:pPr algn="l">
              <a:spcAft>
                <a:spcPts val="600"/>
              </a:spcAft>
              <a:defRPr sz="1600" b="0">
                <a:solidFill>
                  <a:srgbClr val="B0B8CC"/>
                </a:solidFill>
                <a:latin typeface="Calibri"/>
              </a:defRPr>
            </a:pPr>
            <a:r>
              <a:t>Someone can't make it?</a:t>
            </a:r>
          </a:p>
          <a:p>
            <a:pPr algn="l">
              <a:spcAft>
                <a:spcPts val="600"/>
              </a:spcAft>
              <a:defRPr sz="1600" b="0">
                <a:solidFill>
                  <a:srgbClr val="B0B8CC"/>
                </a:solidFill>
                <a:latin typeface="Calibri"/>
              </a:defRPr>
            </a:pPr>
            <a:r>
              <a:t>Spot opens instantly.</a:t>
            </a:r>
          </a:p>
          <a:p>
            <a:pPr algn="l">
              <a:spcAft>
                <a:spcPts val="600"/>
              </a:spcAft>
              <a:defRPr sz="600" b="0">
                <a:solidFill>
                  <a:srgbClr val="1A243B"/>
                </a:solidFill>
                <a:latin typeface="Calibri"/>
              </a:defRPr>
            </a:pPr>
          </a:p>
          <a:p>
            <a:pPr algn="l">
              <a:spcAft>
                <a:spcPts val="600"/>
              </a:spcAft>
              <a:defRPr sz="1400" b="0">
                <a:solidFill>
                  <a:srgbClr val="FBBF24"/>
                </a:solidFill>
                <a:latin typeface="Calibri"/>
              </a:defRPr>
            </a:pPr>
            <a:r>
              <a:t>No more lost revenue</a:t>
            </a:r>
          </a:p>
        </p:txBody>
      </p:sp>
      <p:sp>
        <p:nvSpPr>
          <p:cNvPr id="10" name="TextBox 9"/>
          <p:cNvSpPr txBox="1"/>
          <p:nvPr/>
        </p:nvSpPr>
        <p:spPr>
          <a:xfrm>
            <a:off x="7909560" y="3657600"/>
            <a:ext cx="548640" cy="731520"/>
          </a:xfrm>
          <a:prstGeom prst="rect">
            <a:avLst/>
          </a:prstGeom>
          <a:noFill/>
        </p:spPr>
        <p:txBody>
          <a:bodyPr wrap="square">
            <a:spAutoFit/>
          </a:bodyPr>
          <a:lstStyle/>
          <a:p>
            <a:pPr algn="ctr">
              <a:defRPr sz="3600" b="0">
                <a:solidFill>
                  <a:srgbClr val="647087"/>
                </a:solidFill>
                <a:latin typeface="Calibri"/>
              </a:defRPr>
            </a:pPr>
            <a:r>
              <a:t>➜</a:t>
            </a:r>
          </a:p>
        </p:txBody>
      </p:sp>
      <p:sp>
        <p:nvSpPr>
          <p:cNvPr id="11" name="Rounded Rectangle 10"/>
          <p:cNvSpPr/>
          <p:nvPr/>
        </p:nvSpPr>
        <p:spPr>
          <a:xfrm>
            <a:off x="8412480" y="2926080"/>
            <a:ext cx="3291840" cy="25603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3108960"/>
            <a:ext cx="2743200" cy="2286000"/>
          </a:xfrm>
          <a:prstGeom prst="rect">
            <a:avLst/>
          </a:prstGeom>
          <a:noFill/>
        </p:spPr>
        <p:txBody>
          <a:bodyPr wrap="square">
            <a:spAutoFit/>
          </a:bodyPr>
          <a:lstStyle/>
          <a:p>
            <a:pPr algn="l">
              <a:spcAft>
                <a:spcPts val="600"/>
              </a:spcAft>
              <a:defRPr sz="2800" b="1">
                <a:solidFill>
                  <a:srgbClr val="34D399"/>
                </a:solidFill>
                <a:latin typeface="Calibri"/>
              </a:defRPr>
            </a:pPr>
            <a:r>
              <a:t>❸</a:t>
            </a:r>
          </a:p>
          <a:p>
            <a:pPr algn="l">
              <a:spcAft>
                <a:spcPts val="600"/>
              </a:spcAft>
              <a:defRPr sz="2200" b="1">
                <a:solidFill>
                  <a:srgbClr val="FFFFFF"/>
                </a:solidFill>
                <a:latin typeface="Calibri"/>
              </a:defRPr>
            </a:pPr>
            <a:r>
              <a:t>FILL</a:t>
            </a:r>
          </a:p>
          <a:p>
            <a:pPr algn="l">
              <a:spcAft>
                <a:spcPts val="600"/>
              </a:spcAft>
              <a:defRPr sz="600" b="0">
                <a:solidFill>
                  <a:srgbClr val="1A243B"/>
                </a:solidFill>
                <a:latin typeface="Calibri"/>
              </a:defRPr>
            </a:pPr>
          </a:p>
          <a:p>
            <a:pPr algn="l">
              <a:spcAft>
                <a:spcPts val="600"/>
              </a:spcAft>
              <a:defRPr sz="1600" b="0">
                <a:solidFill>
                  <a:srgbClr val="B0B8CC"/>
                </a:solidFill>
                <a:latin typeface="Calibri"/>
              </a:defRPr>
            </a:pPr>
            <a:r>
              <a:t>Offered at a discount to</a:t>
            </a:r>
          </a:p>
          <a:p>
            <a:pPr algn="l">
              <a:spcAft>
                <a:spcPts val="600"/>
              </a:spcAft>
              <a:defRPr sz="1600" b="0">
                <a:solidFill>
                  <a:srgbClr val="B0B8CC"/>
                </a:solidFill>
                <a:latin typeface="Calibri"/>
              </a:defRPr>
            </a:pPr>
            <a:r>
              <a:t>nearby athletes.</a:t>
            </a:r>
          </a:p>
          <a:p>
            <a:pPr algn="l">
              <a:spcAft>
                <a:spcPts val="600"/>
              </a:spcAft>
              <a:defRPr sz="600" b="0">
                <a:solidFill>
                  <a:srgbClr val="1A243B"/>
                </a:solidFill>
                <a:latin typeface="Calibri"/>
              </a:defRPr>
            </a:pPr>
          </a:p>
          <a:p>
            <a:pPr algn="l">
              <a:spcAft>
                <a:spcPts val="600"/>
              </a:spcAft>
              <a:defRPr sz="1400" b="0">
                <a:solidFill>
                  <a:srgbClr val="34D399"/>
                </a:solidFill>
                <a:latin typeface="Calibri"/>
              </a:defRPr>
            </a:pPr>
            <a:r>
              <a:t>Empty slot = new client</a:t>
            </a:r>
          </a:p>
        </p:txBody>
      </p:sp>
      <p:sp>
        <p:nvSpPr>
          <p:cNvPr id="13" name="TextBox 12"/>
          <p:cNvSpPr txBox="1"/>
          <p:nvPr/>
        </p:nvSpPr>
        <p:spPr>
          <a:xfrm>
            <a:off x="548640" y="5852160"/>
            <a:ext cx="10972800" cy="548640"/>
          </a:xfrm>
          <a:prstGeom prst="rect">
            <a:avLst/>
          </a:prstGeom>
          <a:noFill/>
        </p:spPr>
        <p:txBody>
          <a:bodyPr wrap="square">
            <a:spAutoFit/>
          </a:bodyPr>
          <a:lstStyle/>
          <a:p>
            <a:pPr algn="l">
              <a:defRPr sz="2200" b="1">
                <a:solidFill>
                  <a:srgbClr val="FBBF24"/>
                </a:solidFill>
                <a:latin typeface="Calibri"/>
              </a:defRPr>
            </a:pPr>
            <a:r>
              <a:t>Your wasted capacity IS your marketing.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731520"/>
            <a:ext cx="10972800" cy="731520"/>
          </a:xfrm>
          <a:prstGeom prst="rect">
            <a:avLst/>
          </a:prstGeom>
          <a:noFill/>
        </p:spPr>
        <p:txBody>
          <a:bodyPr wrap="square">
            <a:spAutoFit/>
          </a:bodyPr>
          <a:lstStyle/>
          <a:p>
            <a:pPr algn="l">
              <a:defRPr sz="3400" b="1">
                <a:solidFill>
                  <a:srgbClr val="FFFFFF"/>
                </a:solidFill>
                <a:latin typeface="Calibri"/>
              </a:defRPr>
            </a:pPr>
            <a:r>
              <a:t>Why now? The thesis is funded. Europe is empty.</a:t>
            </a:r>
          </a:p>
        </p:txBody>
      </p:sp>
      <p:sp>
        <p:nvSpPr>
          <p:cNvPr id="4" name="Rounded Rectangle 3"/>
          <p:cNvSpPr/>
          <p:nvPr/>
        </p:nvSpPr>
        <p:spPr>
          <a:xfrm>
            <a:off x="548640" y="1828800"/>
            <a:ext cx="5303520" cy="274320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4572000" cy="2377440"/>
          </a:xfrm>
          <a:prstGeom prst="rect">
            <a:avLst/>
          </a:prstGeom>
          <a:noFill/>
        </p:spPr>
        <p:txBody>
          <a:bodyPr wrap="square">
            <a:spAutoFit/>
          </a:bodyPr>
          <a:lstStyle/>
          <a:p>
            <a:pPr algn="l">
              <a:spcAft>
                <a:spcPts val="600"/>
              </a:spcAft>
              <a:defRPr sz="1400" b="1">
                <a:solidFill>
                  <a:srgbClr val="4EA8F5"/>
                </a:solidFill>
                <a:latin typeface="Calibri"/>
              </a:defRPr>
            </a:pPr>
            <a:r>
              <a:t>WHY NOW</a:t>
            </a:r>
          </a:p>
          <a:p>
            <a:pPr algn="l">
              <a:spcAft>
                <a:spcPts val="600"/>
              </a:spcAft>
              <a:defRPr sz="600" b="0">
                <a:solidFill>
                  <a:srgbClr val="1A243B"/>
                </a:solidFill>
                <a:latin typeface="Calibri"/>
              </a:defRPr>
            </a:pPr>
          </a:p>
          <a:p>
            <a:pPr algn="l">
              <a:spcAft>
                <a:spcPts val="600"/>
              </a:spcAft>
              <a:defRPr sz="2000" b="1">
                <a:solidFill>
                  <a:srgbClr val="FFFFFF"/>
                </a:solidFill>
                <a:latin typeface="Calibri"/>
              </a:defRPr>
            </a:pPr>
            <a:r>
              <a:t>Coaching demand tripled since 2018</a:t>
            </a:r>
          </a:p>
          <a:p>
            <a:pPr algn="l">
              <a:spcAft>
                <a:spcPts val="600"/>
              </a:spcAft>
              <a:defRPr sz="400" b="0">
                <a:solidFill>
                  <a:srgbClr val="1A243B"/>
                </a:solidFill>
                <a:latin typeface="Calibri"/>
              </a:defRPr>
            </a:pPr>
          </a:p>
          <a:p>
            <a:pPr algn="l">
              <a:spcAft>
                <a:spcPts val="600"/>
              </a:spcAft>
              <a:defRPr sz="1700" b="0">
                <a:solidFill>
                  <a:srgbClr val="B0B8CC"/>
                </a:solidFill>
                <a:latin typeface="Calibri"/>
              </a:defRPr>
            </a:pPr>
            <a:r>
              <a:t>TeachMe.To: $10M raised (Sam Altman) → US only</a:t>
            </a:r>
          </a:p>
          <a:p>
            <a:pPr algn="l">
              <a:spcAft>
                <a:spcPts val="600"/>
              </a:spcAft>
              <a:defRPr sz="400" b="0">
                <a:solidFill>
                  <a:srgbClr val="1A243B"/>
                </a:solidFill>
                <a:latin typeface="Calibri"/>
              </a:defRPr>
            </a:pPr>
          </a:p>
          <a:p>
            <a:pPr algn="l">
              <a:spcAft>
                <a:spcPts val="600"/>
              </a:spcAft>
              <a:defRPr sz="1700" b="0">
                <a:solidFill>
                  <a:srgbClr val="B0B8CC"/>
                </a:solidFill>
                <a:latin typeface="Calibri"/>
              </a:defRPr>
            </a:pPr>
            <a:r>
              <a:t>Booksy: Polish-founded, $1.3B GMV</a:t>
            </a:r>
          </a:p>
          <a:p>
            <a:pPr algn="l">
              <a:spcAft>
                <a:spcPts val="600"/>
              </a:spcAft>
              <a:defRPr sz="1700" b="0">
                <a:solidFill>
                  <a:srgbClr val="B0B8CC"/>
                </a:solidFill>
                <a:latin typeface="Calibri"/>
              </a:defRPr>
            </a:pPr>
            <a:r>
              <a:t>→ proved the playbook for beauty</a:t>
            </a:r>
          </a:p>
          <a:p>
            <a:pPr algn="l">
              <a:spcAft>
                <a:spcPts val="600"/>
              </a:spcAft>
              <a:defRPr sz="400" b="0">
                <a:solidFill>
                  <a:srgbClr val="1A243B"/>
                </a:solidFill>
                <a:latin typeface="Calibri"/>
              </a:defRPr>
            </a:pPr>
          </a:p>
          <a:p>
            <a:pPr algn="l">
              <a:spcAft>
                <a:spcPts val="600"/>
              </a:spcAft>
              <a:defRPr sz="2000" b="1">
                <a:solidFill>
                  <a:srgbClr val="34D399"/>
                </a:solidFill>
                <a:latin typeface="Calibri"/>
              </a:defRPr>
            </a:pPr>
            <a:r>
              <a:t>Europe → wide open</a:t>
            </a:r>
          </a:p>
        </p:txBody>
      </p:sp>
      <p:sp>
        <p:nvSpPr>
          <p:cNvPr id="6" name="Rounded Rectangle 5"/>
          <p:cNvSpPr/>
          <p:nvPr/>
        </p:nvSpPr>
        <p:spPr>
          <a:xfrm>
            <a:off x="6400800" y="1828800"/>
            <a:ext cx="5303520" cy="274320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2011680"/>
            <a:ext cx="4572000" cy="2377440"/>
          </a:xfrm>
          <a:prstGeom prst="rect">
            <a:avLst/>
          </a:prstGeom>
          <a:noFill/>
        </p:spPr>
        <p:txBody>
          <a:bodyPr wrap="square">
            <a:spAutoFit/>
          </a:bodyPr>
          <a:lstStyle/>
          <a:p>
            <a:pPr algn="l">
              <a:spcAft>
                <a:spcPts val="600"/>
              </a:spcAft>
              <a:defRPr sz="1400" b="1">
                <a:solidFill>
                  <a:srgbClr val="4EA8F5"/>
                </a:solidFill>
                <a:latin typeface="Calibri"/>
              </a:defRPr>
            </a:pPr>
            <a:r>
              <a:t>THE WEDGE</a:t>
            </a:r>
          </a:p>
          <a:p>
            <a:pPr algn="l">
              <a:spcAft>
                <a:spcPts val="600"/>
              </a:spcAft>
              <a:defRPr sz="600" b="0">
                <a:solidFill>
                  <a:srgbClr val="1A243B"/>
                </a:solidFill>
                <a:latin typeface="Calibri"/>
              </a:defRPr>
            </a:pPr>
          </a:p>
          <a:p>
            <a:pPr algn="l">
              <a:spcAft>
                <a:spcPts val="600"/>
              </a:spcAft>
              <a:defRPr sz="1700" b="0">
                <a:solidFill>
                  <a:srgbClr val="B0B8CC"/>
                </a:solidFill>
                <a:latin typeface="Calibri"/>
              </a:defRPr>
            </a:pPr>
            <a:r>
              <a:t>To fill slots in real time, you need BOTH:</a:t>
            </a:r>
          </a:p>
          <a:p>
            <a:pPr algn="l">
              <a:spcAft>
                <a:spcPts val="600"/>
              </a:spcAft>
              <a:defRPr sz="600" b="0">
                <a:solidFill>
                  <a:srgbClr val="1A243B"/>
                </a:solidFill>
                <a:latin typeface="Calibri"/>
              </a:defRPr>
            </a:pPr>
          </a:p>
          <a:p>
            <a:pPr algn="l">
              <a:spcAft>
                <a:spcPts val="600"/>
              </a:spcAft>
              <a:defRPr sz="1800" b="0">
                <a:solidFill>
                  <a:srgbClr val="F47272"/>
                </a:solidFill>
                <a:latin typeface="Calibri"/>
              </a:defRPr>
            </a:pPr>
            <a:r>
              <a:t>ActiveNow = tool, no marketplace</a:t>
            </a:r>
          </a:p>
          <a:p>
            <a:pPr algn="l">
              <a:spcAft>
                <a:spcPts val="600"/>
              </a:spcAft>
              <a:defRPr sz="300" b="0">
                <a:solidFill>
                  <a:srgbClr val="1A243B"/>
                </a:solidFill>
                <a:latin typeface="Calibri"/>
              </a:defRPr>
            </a:pPr>
          </a:p>
          <a:p>
            <a:pPr algn="l">
              <a:spcAft>
                <a:spcPts val="600"/>
              </a:spcAft>
              <a:defRPr sz="1800" b="0">
                <a:solidFill>
                  <a:srgbClr val="F47272"/>
                </a:solidFill>
                <a:latin typeface="Calibri"/>
              </a:defRPr>
            </a:pPr>
            <a:r>
              <a:t>TeachMe.To = marketplace, no tool</a:t>
            </a:r>
          </a:p>
          <a:p>
            <a:pPr algn="l">
              <a:spcAft>
                <a:spcPts val="600"/>
              </a:spcAft>
              <a:defRPr sz="300" b="0">
                <a:solidFill>
                  <a:srgbClr val="1A243B"/>
                </a:solidFill>
                <a:latin typeface="Calibri"/>
              </a:defRPr>
            </a:pPr>
          </a:p>
          <a:p>
            <a:pPr algn="l">
              <a:spcAft>
                <a:spcPts val="600"/>
              </a:spcAft>
              <a:defRPr sz="2400" b="1">
                <a:solidFill>
                  <a:srgbClr val="34D399"/>
                </a:solidFill>
                <a:latin typeface="Calibri"/>
              </a:defRPr>
            </a:pPr>
            <a:r>
              <a:t>Sessio = both</a:t>
            </a:r>
          </a:p>
          <a:p>
            <a:pPr algn="l">
              <a:spcAft>
                <a:spcPts val="600"/>
              </a:spcAft>
              <a:defRPr sz="300" b="0">
                <a:solidFill>
                  <a:srgbClr val="1A243B"/>
                </a:solidFill>
                <a:latin typeface="Calibri"/>
              </a:defRPr>
            </a:pPr>
          </a:p>
          <a:p>
            <a:pPr algn="l">
              <a:spcAft>
                <a:spcPts val="600"/>
              </a:spcAft>
              <a:defRPr sz="1600" b="0">
                <a:solidFill>
                  <a:srgbClr val="647087"/>
                </a:solidFill>
                <a:latin typeface="Calibri"/>
              </a:defRPr>
            </a:pPr>
            <a:r>
              <a:t>Neither can add the other half</a:t>
            </a:r>
          </a:p>
          <a:p>
            <a:pPr algn="l">
              <a:spcAft>
                <a:spcPts val="600"/>
              </a:spcAft>
              <a:defRPr sz="1600" b="0">
                <a:solidFill>
                  <a:srgbClr val="647087"/>
                </a:solidFill>
                <a:latin typeface="Calibri"/>
              </a:defRPr>
            </a:pPr>
            <a:r>
              <a:t>without rebuilding from scratch.</a:t>
            </a:r>
          </a:p>
        </p:txBody>
      </p:sp>
      <p:sp>
        <p:nvSpPr>
          <p:cNvPr id="8" name="TextBox 7"/>
          <p:cNvSpPr txBox="1"/>
          <p:nvPr/>
        </p:nvSpPr>
        <p:spPr>
          <a:xfrm>
            <a:off x="548640" y="5029200"/>
            <a:ext cx="10972800" cy="731520"/>
          </a:xfrm>
          <a:prstGeom prst="rect">
            <a:avLst/>
          </a:prstGeom>
          <a:noFill/>
        </p:spPr>
        <p:txBody>
          <a:bodyPr wrap="square">
            <a:spAutoFit/>
          </a:bodyPr>
          <a:lstStyle/>
          <a:p>
            <a:pPr algn="l">
              <a:defRPr sz="2000" b="1">
                <a:solidFill>
                  <a:srgbClr val="FBBF24"/>
                </a:solidFill>
                <a:latin typeface="Calibri"/>
              </a:defRPr>
            </a:pPr>
            <a:r>
              <a:t>Someone will build this in Europe in the next 18 months. We already started.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731520"/>
            <a:ext cx="10972800" cy="731520"/>
          </a:xfrm>
          <a:prstGeom prst="rect">
            <a:avLst/>
          </a:prstGeom>
          <a:noFill/>
        </p:spPr>
        <p:txBody>
          <a:bodyPr wrap="square">
            <a:spAutoFit/>
          </a:bodyPr>
          <a:lstStyle/>
          <a:p>
            <a:pPr algn="l">
              <a:defRPr sz="3400" b="1">
                <a:solidFill>
                  <a:srgbClr val="FFFFFF"/>
                </a:solidFill>
                <a:latin typeface="Calibri"/>
              </a:defRPr>
            </a:pPr>
            <a:r>
              <a:t>The Booksy playbook. Proven at $1.3B GMV.</a:t>
            </a:r>
          </a:p>
        </p:txBody>
      </p:sp>
      <p:sp>
        <p:nvSpPr>
          <p:cNvPr id="4" name="Rounded Rectangle 3"/>
          <p:cNvSpPr/>
          <p:nvPr/>
        </p:nvSpPr>
        <p:spPr>
          <a:xfrm>
            <a:off x="548640" y="1828800"/>
            <a:ext cx="10972800" cy="548640"/>
          </a:xfrm>
          <a:prstGeom prst="roundRect">
            <a:avLst>
              <a:gd name="adj" fmla="val 5000"/>
            </a:avLst>
          </a:prstGeom>
          <a:solidFill>
            <a:srgbClr val="4EA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19"/>
            <a:ext cx="3200400" cy="457200"/>
          </a:xfrm>
          <a:prstGeom prst="rect">
            <a:avLst/>
          </a:prstGeom>
          <a:noFill/>
        </p:spPr>
        <p:txBody>
          <a:bodyPr wrap="square">
            <a:spAutoFit/>
          </a:bodyPr>
          <a:lstStyle/>
          <a:p>
            <a:pPr algn="l">
              <a:defRPr sz="1600" b="1">
                <a:solidFill>
                  <a:srgbClr val="FFFFFF"/>
                </a:solidFill>
                <a:latin typeface="Calibri"/>
              </a:defRPr>
            </a:pPr>
          </a:p>
        </p:txBody>
      </p:sp>
      <p:sp>
        <p:nvSpPr>
          <p:cNvPr id="6" name="TextBox 5"/>
          <p:cNvSpPr txBox="1"/>
          <p:nvPr/>
        </p:nvSpPr>
        <p:spPr>
          <a:xfrm>
            <a:off x="3840480" y="1874519"/>
            <a:ext cx="3200400" cy="457200"/>
          </a:xfrm>
          <a:prstGeom prst="rect">
            <a:avLst/>
          </a:prstGeom>
          <a:noFill/>
        </p:spPr>
        <p:txBody>
          <a:bodyPr wrap="square">
            <a:spAutoFit/>
          </a:bodyPr>
          <a:lstStyle/>
          <a:p>
            <a:pPr algn="ctr">
              <a:defRPr sz="1600" b="1">
                <a:solidFill>
                  <a:srgbClr val="0F1729"/>
                </a:solidFill>
                <a:latin typeface="Calibri"/>
              </a:defRPr>
            </a:pPr>
            <a:r>
              <a:t>Booksy (beauty)</a:t>
            </a:r>
          </a:p>
        </p:txBody>
      </p:sp>
      <p:sp>
        <p:nvSpPr>
          <p:cNvPr id="7" name="TextBox 6"/>
          <p:cNvSpPr txBox="1"/>
          <p:nvPr/>
        </p:nvSpPr>
        <p:spPr>
          <a:xfrm>
            <a:off x="7498079" y="1874519"/>
            <a:ext cx="3657600" cy="457200"/>
          </a:xfrm>
          <a:prstGeom prst="rect">
            <a:avLst/>
          </a:prstGeom>
          <a:noFill/>
        </p:spPr>
        <p:txBody>
          <a:bodyPr wrap="square">
            <a:spAutoFit/>
          </a:bodyPr>
          <a:lstStyle/>
          <a:p>
            <a:pPr algn="ctr">
              <a:defRPr sz="1600" b="1">
                <a:solidFill>
                  <a:srgbClr val="0F1729"/>
                </a:solidFill>
                <a:latin typeface="Calibri"/>
              </a:defRPr>
            </a:pPr>
            <a:r>
              <a:t>Sessio (sports coaching)</a:t>
            </a:r>
          </a:p>
        </p:txBody>
      </p:sp>
      <p:sp>
        <p:nvSpPr>
          <p:cNvPr id="8" name="Rounded Rectangle 7"/>
          <p:cNvSpPr/>
          <p:nvPr/>
        </p:nvSpPr>
        <p:spPr>
          <a:xfrm>
            <a:off x="548640" y="2468880"/>
            <a:ext cx="10972800" cy="59436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14600"/>
            <a:ext cx="3017520" cy="457200"/>
          </a:xfrm>
          <a:prstGeom prst="rect">
            <a:avLst/>
          </a:prstGeom>
          <a:noFill/>
        </p:spPr>
        <p:txBody>
          <a:bodyPr wrap="square">
            <a:spAutoFit/>
          </a:bodyPr>
          <a:lstStyle/>
          <a:p>
            <a:pPr algn="l">
              <a:defRPr sz="1600" b="1">
                <a:solidFill>
                  <a:srgbClr val="4EA8F5"/>
                </a:solidFill>
                <a:latin typeface="Calibri"/>
              </a:defRPr>
            </a:pPr>
            <a:r>
              <a:t>SaaS subscription</a:t>
            </a:r>
          </a:p>
        </p:txBody>
      </p:sp>
      <p:sp>
        <p:nvSpPr>
          <p:cNvPr id="10" name="TextBox 9"/>
          <p:cNvSpPr txBox="1"/>
          <p:nvPr/>
        </p:nvSpPr>
        <p:spPr>
          <a:xfrm>
            <a:off x="3840480" y="2514600"/>
            <a:ext cx="3200400" cy="457200"/>
          </a:xfrm>
          <a:prstGeom prst="rect">
            <a:avLst/>
          </a:prstGeom>
          <a:noFill/>
        </p:spPr>
        <p:txBody>
          <a:bodyPr wrap="square">
            <a:spAutoFit/>
          </a:bodyPr>
          <a:lstStyle/>
          <a:p>
            <a:pPr algn="ctr">
              <a:defRPr sz="1600" b="0">
                <a:solidFill>
                  <a:srgbClr val="B0B8CC"/>
                </a:solidFill>
                <a:latin typeface="Calibri"/>
              </a:defRPr>
            </a:pPr>
            <a:r>
              <a:t>$30/month</a:t>
            </a:r>
          </a:p>
        </p:txBody>
      </p:sp>
      <p:sp>
        <p:nvSpPr>
          <p:cNvPr id="11" name="TextBox 10"/>
          <p:cNvSpPr txBox="1"/>
          <p:nvPr/>
        </p:nvSpPr>
        <p:spPr>
          <a:xfrm>
            <a:off x="7498079" y="2514600"/>
            <a:ext cx="3657600" cy="457200"/>
          </a:xfrm>
          <a:prstGeom prst="rect">
            <a:avLst/>
          </a:prstGeom>
          <a:noFill/>
        </p:spPr>
        <p:txBody>
          <a:bodyPr wrap="square">
            <a:spAutoFit/>
          </a:bodyPr>
          <a:lstStyle/>
          <a:p>
            <a:pPr algn="ctr">
              <a:defRPr sz="1600" b="0">
                <a:solidFill>
                  <a:srgbClr val="FFFFFF"/>
                </a:solidFill>
                <a:latin typeface="Calibri"/>
              </a:defRPr>
            </a:pPr>
            <a:r>
              <a:t>School pays for tool</a:t>
            </a:r>
          </a:p>
        </p:txBody>
      </p:sp>
      <p:sp>
        <p:nvSpPr>
          <p:cNvPr id="12" name="Rounded Rectangle 11"/>
          <p:cNvSpPr/>
          <p:nvPr/>
        </p:nvSpPr>
        <p:spPr>
          <a:xfrm>
            <a:off x="548640" y="3154680"/>
            <a:ext cx="10972800" cy="594360"/>
          </a:xfrm>
          <a:prstGeom prst="roundRect">
            <a:avLst>
              <a:gd name="adj" fmla="val 5000"/>
            </a:avLst>
          </a:prstGeom>
          <a:solidFill>
            <a:srgbClr val="14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3017520" cy="457200"/>
          </a:xfrm>
          <a:prstGeom prst="rect">
            <a:avLst/>
          </a:prstGeom>
          <a:noFill/>
        </p:spPr>
        <p:txBody>
          <a:bodyPr wrap="square">
            <a:spAutoFit/>
          </a:bodyPr>
          <a:lstStyle/>
          <a:p>
            <a:pPr algn="l">
              <a:defRPr sz="1600" b="1">
                <a:solidFill>
                  <a:srgbClr val="4EA8F5"/>
                </a:solidFill>
                <a:latin typeface="Calibri"/>
              </a:defRPr>
            </a:pPr>
            <a:r>
              <a:t>New client commission</a:t>
            </a:r>
          </a:p>
        </p:txBody>
      </p:sp>
      <p:sp>
        <p:nvSpPr>
          <p:cNvPr id="14" name="TextBox 13"/>
          <p:cNvSpPr txBox="1"/>
          <p:nvPr/>
        </p:nvSpPr>
        <p:spPr>
          <a:xfrm>
            <a:off x="3840480" y="3200400"/>
            <a:ext cx="3200400" cy="457200"/>
          </a:xfrm>
          <a:prstGeom prst="rect">
            <a:avLst/>
          </a:prstGeom>
          <a:noFill/>
        </p:spPr>
        <p:txBody>
          <a:bodyPr wrap="square">
            <a:spAutoFit/>
          </a:bodyPr>
          <a:lstStyle/>
          <a:p>
            <a:pPr algn="ctr">
              <a:defRPr sz="1600" b="0">
                <a:solidFill>
                  <a:srgbClr val="B0B8CC"/>
                </a:solidFill>
                <a:latin typeface="Calibri"/>
              </a:defRPr>
            </a:pPr>
            <a:r>
              <a:t>30% first visit</a:t>
            </a:r>
          </a:p>
        </p:txBody>
      </p:sp>
      <p:sp>
        <p:nvSpPr>
          <p:cNvPr id="15" name="TextBox 14"/>
          <p:cNvSpPr txBox="1"/>
          <p:nvPr/>
        </p:nvSpPr>
        <p:spPr>
          <a:xfrm>
            <a:off x="7498079" y="3200400"/>
            <a:ext cx="3657600" cy="457200"/>
          </a:xfrm>
          <a:prstGeom prst="rect">
            <a:avLst/>
          </a:prstGeom>
          <a:noFill/>
        </p:spPr>
        <p:txBody>
          <a:bodyPr wrap="square">
            <a:spAutoFit/>
          </a:bodyPr>
          <a:lstStyle/>
          <a:p>
            <a:pPr algn="ctr">
              <a:defRPr sz="1600" b="0">
                <a:solidFill>
                  <a:srgbClr val="FFFFFF"/>
                </a:solidFill>
                <a:latin typeface="Calibri"/>
              </a:defRPr>
            </a:pPr>
            <a:r>
              <a:t>30% happy hour booking</a:t>
            </a:r>
          </a:p>
        </p:txBody>
      </p:sp>
      <p:sp>
        <p:nvSpPr>
          <p:cNvPr id="16" name="Rounded Rectangle 15"/>
          <p:cNvSpPr/>
          <p:nvPr/>
        </p:nvSpPr>
        <p:spPr>
          <a:xfrm>
            <a:off x="548640" y="3840480"/>
            <a:ext cx="10972800" cy="59436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86200"/>
            <a:ext cx="3017520" cy="457200"/>
          </a:xfrm>
          <a:prstGeom prst="rect">
            <a:avLst/>
          </a:prstGeom>
          <a:noFill/>
        </p:spPr>
        <p:txBody>
          <a:bodyPr wrap="square">
            <a:spAutoFit/>
          </a:bodyPr>
          <a:lstStyle/>
          <a:p>
            <a:pPr algn="l">
              <a:defRPr sz="1600" b="1">
                <a:solidFill>
                  <a:srgbClr val="4EA8F5"/>
                </a:solidFill>
                <a:latin typeface="Calibri"/>
              </a:defRPr>
            </a:pPr>
            <a:r>
              <a:t>After first visit</a:t>
            </a:r>
          </a:p>
        </p:txBody>
      </p:sp>
      <p:sp>
        <p:nvSpPr>
          <p:cNvPr id="18" name="TextBox 17"/>
          <p:cNvSpPr txBox="1"/>
          <p:nvPr/>
        </p:nvSpPr>
        <p:spPr>
          <a:xfrm>
            <a:off x="3840480" y="3886200"/>
            <a:ext cx="3200400" cy="457200"/>
          </a:xfrm>
          <a:prstGeom prst="rect">
            <a:avLst/>
          </a:prstGeom>
          <a:noFill/>
        </p:spPr>
        <p:txBody>
          <a:bodyPr wrap="square">
            <a:spAutoFit/>
          </a:bodyPr>
          <a:lstStyle/>
          <a:p>
            <a:pPr algn="ctr">
              <a:defRPr sz="1600" b="1">
                <a:solidFill>
                  <a:srgbClr val="34D399"/>
                </a:solidFill>
                <a:latin typeface="Calibri"/>
              </a:defRPr>
            </a:pPr>
            <a:r>
              <a:t>0% forever</a:t>
            </a:r>
          </a:p>
        </p:txBody>
      </p:sp>
      <p:sp>
        <p:nvSpPr>
          <p:cNvPr id="19" name="TextBox 18"/>
          <p:cNvSpPr txBox="1"/>
          <p:nvPr/>
        </p:nvSpPr>
        <p:spPr>
          <a:xfrm>
            <a:off x="7498079" y="3886200"/>
            <a:ext cx="3657600" cy="457200"/>
          </a:xfrm>
          <a:prstGeom prst="rect">
            <a:avLst/>
          </a:prstGeom>
          <a:noFill/>
        </p:spPr>
        <p:txBody>
          <a:bodyPr wrap="square">
            <a:spAutoFit/>
          </a:bodyPr>
          <a:lstStyle/>
          <a:p>
            <a:pPr algn="ctr">
              <a:defRPr sz="1600" b="1">
                <a:solidFill>
                  <a:srgbClr val="34D399"/>
                </a:solidFill>
                <a:latin typeface="Calibri"/>
              </a:defRPr>
            </a:pPr>
            <a:r>
              <a:t>0% forever</a:t>
            </a:r>
          </a:p>
        </p:txBody>
      </p:sp>
      <p:sp>
        <p:nvSpPr>
          <p:cNvPr id="20" name="TextBox 19"/>
          <p:cNvSpPr txBox="1"/>
          <p:nvPr/>
        </p:nvSpPr>
        <p:spPr>
          <a:xfrm>
            <a:off x="548640" y="4754880"/>
            <a:ext cx="10972800" cy="457200"/>
          </a:xfrm>
          <a:prstGeom prst="rect">
            <a:avLst/>
          </a:prstGeom>
          <a:noFill/>
        </p:spPr>
        <p:txBody>
          <a:bodyPr wrap="square">
            <a:spAutoFit/>
          </a:bodyPr>
          <a:lstStyle/>
          <a:p>
            <a:pPr algn="l">
              <a:defRPr sz="1800" b="1">
                <a:solidFill>
                  <a:srgbClr val="FBBF24"/>
                </a:solidFill>
                <a:latin typeface="Calibri"/>
              </a:defRPr>
            </a:pPr>
            <a:r>
              <a:t>Booksy result: $66M revenue (2024), $1.3B GMV, profitable. From Poland.</a:t>
            </a:r>
          </a:p>
        </p:txBody>
      </p:sp>
      <p:sp>
        <p:nvSpPr>
          <p:cNvPr id="21" name="Rounded Rectangle 20"/>
          <p:cNvSpPr/>
          <p:nvPr/>
        </p:nvSpPr>
        <p:spPr>
          <a:xfrm>
            <a:off x="548640" y="5394960"/>
            <a:ext cx="3291840" cy="100584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440680"/>
            <a:ext cx="2743200" cy="914400"/>
          </a:xfrm>
          <a:prstGeom prst="rect">
            <a:avLst/>
          </a:prstGeom>
          <a:noFill/>
        </p:spPr>
        <p:txBody>
          <a:bodyPr wrap="square">
            <a:spAutoFit/>
          </a:bodyPr>
          <a:lstStyle/>
          <a:p>
            <a:pPr algn="l">
              <a:spcAft>
                <a:spcPts val="600"/>
              </a:spcAft>
              <a:defRPr sz="2800" b="1">
                <a:solidFill>
                  <a:srgbClr val="4EA8F5"/>
                </a:solidFill>
                <a:latin typeface="Calibri"/>
              </a:defRPr>
            </a:pPr>
            <a:r>
              <a:t>$15.4B</a:t>
            </a:r>
          </a:p>
          <a:p>
            <a:pPr algn="l">
              <a:spcAft>
                <a:spcPts val="600"/>
              </a:spcAft>
              <a:defRPr sz="1400" b="0">
                <a:solidFill>
                  <a:srgbClr val="B0B8CC"/>
                </a:solidFill>
                <a:latin typeface="Calibri"/>
              </a:defRPr>
            </a:pPr>
            <a:r>
              <a:t>US coaching market</a:t>
            </a:r>
          </a:p>
        </p:txBody>
      </p:sp>
      <p:sp>
        <p:nvSpPr>
          <p:cNvPr id="23" name="Rounded Rectangle 22"/>
          <p:cNvSpPr/>
          <p:nvPr/>
        </p:nvSpPr>
        <p:spPr>
          <a:xfrm>
            <a:off x="4114800" y="5394960"/>
            <a:ext cx="3291840" cy="100584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5440680"/>
            <a:ext cx="2743200" cy="914400"/>
          </a:xfrm>
          <a:prstGeom prst="rect">
            <a:avLst/>
          </a:prstGeom>
          <a:noFill/>
        </p:spPr>
        <p:txBody>
          <a:bodyPr wrap="square">
            <a:spAutoFit/>
          </a:bodyPr>
          <a:lstStyle/>
          <a:p>
            <a:pPr algn="l">
              <a:spcAft>
                <a:spcPts val="600"/>
              </a:spcAft>
              <a:defRPr sz="2800" b="1">
                <a:solidFill>
                  <a:srgbClr val="4EA8F5"/>
                </a:solidFill>
                <a:latin typeface="Calibri"/>
              </a:defRPr>
            </a:pPr>
            <a:r>
              <a:t>24.5% CAGR</a:t>
            </a:r>
          </a:p>
          <a:p>
            <a:pPr algn="l">
              <a:spcAft>
                <a:spcPts val="600"/>
              </a:spcAft>
              <a:defRPr sz="1400" b="0">
                <a:solidFill>
                  <a:srgbClr val="B0B8CC"/>
                </a:solidFill>
                <a:latin typeface="Calibri"/>
              </a:defRPr>
            </a:pPr>
            <a:r>
              <a:t>platform layer growth</a:t>
            </a:r>
          </a:p>
        </p:txBody>
      </p:sp>
      <p:sp>
        <p:nvSpPr>
          <p:cNvPr id="25" name="Rounded Rectangle 24"/>
          <p:cNvSpPr/>
          <p:nvPr/>
        </p:nvSpPr>
        <p:spPr>
          <a:xfrm>
            <a:off x="7680960" y="5394960"/>
            <a:ext cx="3840480" cy="100584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79" y="5440680"/>
            <a:ext cx="3291840" cy="914400"/>
          </a:xfrm>
          <a:prstGeom prst="rect">
            <a:avLst/>
          </a:prstGeom>
          <a:noFill/>
        </p:spPr>
        <p:txBody>
          <a:bodyPr wrap="square">
            <a:spAutoFit/>
          </a:bodyPr>
          <a:lstStyle/>
          <a:p>
            <a:pPr algn="l">
              <a:spcAft>
                <a:spcPts val="600"/>
              </a:spcAft>
              <a:defRPr sz="2800" b="1">
                <a:solidFill>
                  <a:srgbClr val="4EA8F5"/>
                </a:solidFill>
                <a:latin typeface="Calibri"/>
              </a:defRPr>
            </a:pPr>
            <a:r>
              <a:t>2,100+ schools</a:t>
            </a:r>
          </a:p>
          <a:p>
            <a:pPr algn="l">
              <a:spcAft>
                <a:spcPts val="600"/>
              </a:spcAft>
              <a:defRPr sz="1400" b="0">
                <a:solidFill>
                  <a:srgbClr val="B0B8CC"/>
                </a:solidFill>
                <a:latin typeface="Calibri"/>
              </a:defRPr>
            </a:pPr>
            <a:r>
              <a:t>in Poland already pay for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731520"/>
            <a:ext cx="10972800" cy="731520"/>
          </a:xfrm>
          <a:prstGeom prst="rect">
            <a:avLst/>
          </a:prstGeom>
          <a:noFill/>
        </p:spPr>
        <p:txBody>
          <a:bodyPr wrap="square">
            <a:spAutoFit/>
          </a:bodyPr>
          <a:lstStyle/>
          <a:p>
            <a:pPr algn="l">
              <a:defRPr sz="3400" b="1">
                <a:solidFill>
                  <a:srgbClr val="FFFFFF"/>
                </a:solidFill>
                <a:latin typeface="Calibri"/>
              </a:defRPr>
            </a:pPr>
            <a:r>
              <a:t>Built. Validated. Ready to scale.</a:t>
            </a:r>
          </a:p>
        </p:txBody>
      </p:sp>
      <p:sp>
        <p:nvSpPr>
          <p:cNvPr id="4" name="Rounded Rectangle 3"/>
          <p:cNvSpPr/>
          <p:nvPr/>
        </p:nvSpPr>
        <p:spPr>
          <a:xfrm>
            <a:off x="548640" y="1828800"/>
            <a:ext cx="5303520" cy="43891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4572000" cy="4023360"/>
          </a:xfrm>
          <a:prstGeom prst="rect">
            <a:avLst/>
          </a:prstGeom>
          <a:noFill/>
        </p:spPr>
        <p:txBody>
          <a:bodyPr wrap="square">
            <a:spAutoFit/>
          </a:bodyPr>
          <a:lstStyle/>
          <a:p>
            <a:pPr algn="l">
              <a:spcAft>
                <a:spcPts val="600"/>
              </a:spcAft>
              <a:defRPr sz="1400" b="1">
                <a:solidFill>
                  <a:srgbClr val="4EA8F5"/>
                </a:solidFill>
                <a:latin typeface="Calibri"/>
              </a:defRPr>
            </a:pPr>
            <a:r>
              <a:t>TRACTION</a:t>
            </a:r>
          </a:p>
          <a:p>
            <a:pPr algn="l">
              <a:spcAft>
                <a:spcPts val="600"/>
              </a:spcAft>
              <a:defRPr sz="1000" b="0">
                <a:solidFill>
                  <a:srgbClr val="1A243B"/>
                </a:solidFill>
                <a:latin typeface="Calibri"/>
              </a:defRPr>
            </a:pPr>
          </a:p>
          <a:p>
            <a:pPr algn="l">
              <a:spcAft>
                <a:spcPts val="600"/>
              </a:spcAft>
              <a:defRPr sz="2000" b="1">
                <a:solidFill>
                  <a:srgbClr val="FFFFFF"/>
                </a:solidFill>
                <a:latin typeface="Calibri"/>
              </a:defRPr>
            </a:pPr>
            <a:r>
              <a:t>✅  MVP built and live</a:t>
            </a:r>
          </a:p>
          <a:p>
            <a:pPr algn="l">
              <a:spcAft>
                <a:spcPts val="600"/>
              </a:spcAft>
              <a:defRPr sz="600" b="0">
                <a:solidFill>
                  <a:srgbClr val="1A243B"/>
                </a:solidFill>
                <a:latin typeface="Calibri"/>
              </a:defRPr>
            </a:pPr>
          </a:p>
          <a:p>
            <a:pPr algn="l">
              <a:spcAft>
                <a:spcPts val="600"/>
              </a:spcAft>
              <a:defRPr sz="2000" b="1">
                <a:solidFill>
                  <a:srgbClr val="FFFFFF"/>
                </a:solidFill>
                <a:latin typeface="Calibri"/>
              </a:defRPr>
            </a:pPr>
            <a:r>
              <a:t>✅  10+ discovery calls</a:t>
            </a:r>
          </a:p>
          <a:p>
            <a:pPr algn="l">
              <a:spcAft>
                <a:spcPts val="600"/>
              </a:spcAft>
              <a:defRPr sz="1600" b="0">
                <a:solidFill>
                  <a:srgbClr val="B0B8CC"/>
                </a:solidFill>
                <a:latin typeface="Calibri"/>
              </a:defRPr>
            </a:pPr>
            <a:r>
              <a:t>     across 3 countries (PL, US, UA)</a:t>
            </a:r>
          </a:p>
          <a:p>
            <a:pPr algn="l">
              <a:spcAft>
                <a:spcPts val="600"/>
              </a:spcAft>
              <a:defRPr sz="600" b="0">
                <a:solidFill>
                  <a:srgbClr val="1A243B"/>
                </a:solidFill>
                <a:latin typeface="Calibri"/>
              </a:defRPr>
            </a:pPr>
          </a:p>
          <a:p>
            <a:pPr algn="l">
              <a:spcAft>
                <a:spcPts val="600"/>
              </a:spcAft>
              <a:defRPr sz="2000" b="1">
                <a:solidFill>
                  <a:srgbClr val="FFFFFF"/>
                </a:solidFill>
                <a:latin typeface="Calibri"/>
              </a:defRPr>
            </a:pPr>
            <a:r>
              <a:t>✅  Pain confirmed at every school at scale</a:t>
            </a:r>
          </a:p>
          <a:p>
            <a:pPr algn="l">
              <a:spcAft>
                <a:spcPts val="600"/>
              </a:spcAft>
              <a:defRPr sz="600" b="0">
                <a:solidFill>
                  <a:srgbClr val="1A243B"/>
                </a:solidFill>
                <a:latin typeface="Calibri"/>
              </a:defRPr>
            </a:pPr>
          </a:p>
          <a:p>
            <a:pPr algn="l">
              <a:spcAft>
                <a:spcPts val="600"/>
              </a:spcAft>
              <a:defRPr sz="2000" b="1">
                <a:solidFill>
                  <a:srgbClr val="FFFFFF"/>
                </a:solidFill>
                <a:latin typeface="Calibri"/>
              </a:defRPr>
            </a:pPr>
            <a:r>
              <a:t>✅  2 pilot-ready schools</a:t>
            </a:r>
          </a:p>
          <a:p>
            <a:pPr algn="l">
              <a:spcAft>
                <a:spcPts val="600"/>
              </a:spcAft>
              <a:defRPr sz="1600" b="0">
                <a:solidFill>
                  <a:srgbClr val="B0B8CC"/>
                </a:solidFill>
                <a:latin typeface="Calibri"/>
              </a:defRPr>
            </a:pPr>
            <a:r>
              <a:t>     400+ clients, 10-16 coaches each</a:t>
            </a:r>
          </a:p>
          <a:p>
            <a:pPr algn="l">
              <a:spcAft>
                <a:spcPts val="600"/>
              </a:spcAft>
              <a:defRPr sz="600" b="0">
                <a:solidFill>
                  <a:srgbClr val="1A243B"/>
                </a:solidFill>
                <a:latin typeface="Calibri"/>
              </a:defRPr>
            </a:pPr>
          </a:p>
          <a:p>
            <a:pPr algn="l">
              <a:spcAft>
                <a:spcPts val="600"/>
              </a:spcAft>
              <a:defRPr sz="2000" b="1">
                <a:solidFill>
                  <a:srgbClr val="FFFFFF"/>
                </a:solidFill>
                <a:latin typeface="Calibri"/>
              </a:defRPr>
            </a:pPr>
            <a:r>
              <a:t>✅  WTP confirmed: €50-100/month</a:t>
            </a:r>
          </a:p>
        </p:txBody>
      </p:sp>
      <p:sp>
        <p:nvSpPr>
          <p:cNvPr id="6" name="Rounded Rectangle 5"/>
          <p:cNvSpPr/>
          <p:nvPr/>
        </p:nvSpPr>
        <p:spPr>
          <a:xfrm>
            <a:off x="6400800" y="1828800"/>
            <a:ext cx="5303520" cy="43891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2011680"/>
            <a:ext cx="4572000" cy="4023360"/>
          </a:xfrm>
          <a:prstGeom prst="rect">
            <a:avLst/>
          </a:prstGeom>
          <a:noFill/>
        </p:spPr>
        <p:txBody>
          <a:bodyPr wrap="square">
            <a:spAutoFit/>
          </a:bodyPr>
          <a:lstStyle/>
          <a:p>
            <a:pPr algn="l">
              <a:spcAft>
                <a:spcPts val="600"/>
              </a:spcAft>
              <a:defRPr sz="1400" b="1">
                <a:solidFill>
                  <a:srgbClr val="4EA8F5"/>
                </a:solidFill>
                <a:latin typeface="Calibri"/>
              </a:defRPr>
            </a:pPr>
            <a:r>
              <a:t>FOUNDER</a:t>
            </a:r>
          </a:p>
          <a:p>
            <a:pPr algn="l">
              <a:spcAft>
                <a:spcPts val="600"/>
              </a:spcAft>
              <a:defRPr sz="1000" b="0">
                <a:solidFill>
                  <a:srgbClr val="1A243B"/>
                </a:solidFill>
                <a:latin typeface="Calibri"/>
              </a:defRPr>
            </a:pPr>
          </a:p>
          <a:p>
            <a:pPr algn="l">
              <a:spcAft>
                <a:spcPts val="600"/>
              </a:spcAft>
              <a:defRPr sz="2400" b="1">
                <a:solidFill>
                  <a:srgbClr val="FFFFFF"/>
                </a:solidFill>
                <a:latin typeface="Calibri"/>
              </a:defRPr>
            </a:pPr>
            <a:r>
              <a:t>Miroslaw Bartkowiak</a:t>
            </a:r>
          </a:p>
          <a:p>
            <a:pPr algn="l">
              <a:spcAft>
                <a:spcPts val="600"/>
              </a:spcAft>
              <a:defRPr sz="800" b="0">
                <a:solidFill>
                  <a:srgbClr val="1A243B"/>
                </a:solidFill>
                <a:latin typeface="Calibri"/>
              </a:defRPr>
            </a:pPr>
          </a:p>
          <a:p>
            <a:pPr algn="l">
              <a:spcAft>
                <a:spcPts val="600"/>
              </a:spcAft>
              <a:defRPr sz="1800" b="0">
                <a:solidFill>
                  <a:srgbClr val="B0B8CC"/>
                </a:solidFill>
                <a:latin typeface="Calibri"/>
              </a:defRPr>
            </a:pPr>
            <a:r>
              <a:t>Amazon  —  BI Engineer</a:t>
            </a:r>
          </a:p>
          <a:p>
            <a:pPr algn="l">
              <a:spcAft>
                <a:spcPts val="600"/>
              </a:spcAft>
              <a:defRPr sz="1600" b="0">
                <a:solidFill>
                  <a:srgbClr val="647087"/>
                </a:solidFill>
                <a:latin typeface="Calibri"/>
              </a:defRPr>
            </a:pPr>
            <a:r>
              <a:t>data systems at $75M/year scale</a:t>
            </a:r>
          </a:p>
          <a:p>
            <a:pPr algn="l">
              <a:spcAft>
                <a:spcPts val="600"/>
              </a:spcAft>
              <a:defRPr sz="400" b="0">
                <a:solidFill>
                  <a:srgbClr val="1A243B"/>
                </a:solidFill>
                <a:latin typeface="Calibri"/>
              </a:defRPr>
            </a:pPr>
          </a:p>
          <a:p>
            <a:pPr algn="l">
              <a:spcAft>
                <a:spcPts val="600"/>
              </a:spcAft>
              <a:defRPr sz="1800" b="0">
                <a:solidFill>
                  <a:srgbClr val="B0B8CC"/>
                </a:solidFill>
                <a:latin typeface="Calibri"/>
              </a:defRPr>
            </a:pPr>
            <a:r>
              <a:t>BCG X  —  2 years</a:t>
            </a:r>
          </a:p>
          <a:p>
            <a:pPr algn="l">
              <a:spcAft>
                <a:spcPts val="600"/>
              </a:spcAft>
              <a:defRPr sz="1600" b="0">
                <a:solidFill>
                  <a:srgbClr val="647087"/>
                </a:solidFill>
                <a:latin typeface="Calibri"/>
              </a:defRPr>
            </a:pPr>
            <a:r>
              <a:t>client delivery &amp; product</a:t>
            </a:r>
          </a:p>
          <a:p>
            <a:pPr algn="l">
              <a:spcAft>
                <a:spcPts val="600"/>
              </a:spcAft>
              <a:defRPr sz="800" b="0">
                <a:solidFill>
                  <a:srgbClr val="1A243B"/>
                </a:solidFill>
                <a:latin typeface="Calibri"/>
              </a:defRPr>
            </a:pPr>
          </a:p>
          <a:p>
            <a:pPr algn="l">
              <a:spcAft>
                <a:spcPts val="600"/>
              </a:spcAft>
              <a:defRPr sz="1800" b="1">
                <a:solidFill>
                  <a:srgbClr val="34D399"/>
                </a:solidFill>
                <a:latin typeface="Calibri"/>
              </a:defRPr>
            </a:pPr>
            <a:r>
              <a:t>Built MVP solo with AI</a:t>
            </a:r>
          </a:p>
          <a:p>
            <a:pPr algn="l">
              <a:spcAft>
                <a:spcPts val="600"/>
              </a:spcAft>
              <a:defRPr sz="400" b="0">
                <a:solidFill>
                  <a:srgbClr val="1A243B"/>
                </a:solidFill>
                <a:latin typeface="Calibri"/>
              </a:defRPr>
            </a:pPr>
          </a:p>
          <a:p>
            <a:pPr algn="l">
              <a:spcAft>
                <a:spcPts val="600"/>
              </a:spcAft>
              <a:defRPr sz="1700" b="0">
                <a:solidFill>
                  <a:srgbClr val="B0B8CC"/>
                </a:solidFill>
                <a:latin typeface="Calibri"/>
              </a:defRPr>
            </a:pPr>
            <a:r>
              <a:t>🇺🇦 🇵🇱 🇬🇧 🇫🇷  4 languages — built for CEE</a:t>
            </a:r>
          </a:p>
          <a:p>
            <a:pPr algn="l">
              <a:spcAft>
                <a:spcPts val="600"/>
              </a:spcAft>
              <a:defRPr sz="400" b="0">
                <a:solidFill>
                  <a:srgbClr val="1A243B"/>
                </a:solidFill>
                <a:latin typeface="Calibri"/>
              </a:defRPr>
            </a:pPr>
          </a:p>
          <a:p>
            <a:pPr algn="l">
              <a:spcAft>
                <a:spcPts val="600"/>
              </a:spcAft>
              <a:defRPr sz="1700" b="0">
                <a:solidFill>
                  <a:srgbClr val="FBBF24"/>
                </a:solidFill>
                <a:latin typeface="Calibri"/>
              </a:defRPr>
            </a:pPr>
            <a:r>
              <a:t>Mom runs a swimming school</a:t>
            </a:r>
          </a:p>
          <a:p>
            <a:pPr algn="l">
              <a:spcAft>
                <a:spcPts val="600"/>
              </a:spcAft>
              <a:defRPr sz="1600" b="0">
                <a:solidFill>
                  <a:srgbClr val="647087"/>
                </a:solidFill>
                <a:latin typeface="Calibri"/>
              </a:defRPr>
            </a:pPr>
            <a:r>
              <a:t>→ saw the problem firsthand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9"/>
        </a:solidFill>
        <a:effectLst/>
      </p:bgPr>
    </p:bg>
    <p:spTree>
      <p:nvGrpSpPr>
        <p:cNvPr id="1" name=""/>
        <p:cNvGrpSpPr/>
        <p:nvPr/>
      </p:nvGrpSpPr>
      <p:grpSpPr/>
      <p:sp>
        <p:nvSpPr>
          <p:cNvPr id="2" name="TextBox 1"/>
          <p:cNvSpPr txBox="1"/>
          <p:nvPr/>
        </p:nvSpPr>
        <p:spPr>
          <a:xfrm>
            <a:off x="548640" y="365760"/>
            <a:ext cx="1828800" cy="365760"/>
          </a:xfrm>
          <a:prstGeom prst="rect">
            <a:avLst/>
          </a:prstGeom>
          <a:noFill/>
        </p:spPr>
        <p:txBody>
          <a:bodyPr wrap="square">
            <a:spAutoFit/>
          </a:bodyPr>
          <a:lstStyle/>
          <a:p>
            <a:pPr algn="l">
              <a:defRPr sz="1400" b="1">
                <a:solidFill>
                  <a:srgbClr val="647087"/>
                </a:solidFill>
                <a:latin typeface="Calibri"/>
              </a:defRPr>
            </a:pPr>
            <a:r>
              <a:t>SESSIO</a:t>
            </a:r>
          </a:p>
        </p:txBody>
      </p:sp>
      <p:sp>
        <p:nvSpPr>
          <p:cNvPr id="3" name="TextBox 2"/>
          <p:cNvSpPr txBox="1"/>
          <p:nvPr/>
        </p:nvSpPr>
        <p:spPr>
          <a:xfrm>
            <a:off x="548640" y="914400"/>
            <a:ext cx="10972800" cy="1097280"/>
          </a:xfrm>
          <a:prstGeom prst="rect">
            <a:avLst/>
          </a:prstGeom>
          <a:noFill/>
        </p:spPr>
        <p:txBody>
          <a:bodyPr wrap="square">
            <a:spAutoFit/>
          </a:bodyPr>
          <a:lstStyle/>
          <a:p>
            <a:pPr algn="ctr">
              <a:defRPr sz="4800" b="1">
                <a:solidFill>
                  <a:srgbClr val="FFFFFF"/>
                </a:solidFill>
                <a:latin typeface="Calibri"/>
              </a:defRPr>
            </a:pPr>
            <a:r>
              <a:t>€300–500K pre-seed</a:t>
            </a:r>
          </a:p>
        </p:txBody>
      </p:sp>
      <p:sp>
        <p:nvSpPr>
          <p:cNvPr id="4" name="TextBox 3"/>
          <p:cNvSpPr txBox="1"/>
          <p:nvPr/>
        </p:nvSpPr>
        <p:spPr>
          <a:xfrm>
            <a:off x="548640" y="2011680"/>
            <a:ext cx="10972800" cy="548640"/>
          </a:xfrm>
          <a:prstGeom prst="rect">
            <a:avLst/>
          </a:prstGeom>
          <a:noFill/>
        </p:spPr>
        <p:txBody>
          <a:bodyPr wrap="square">
            <a:spAutoFit/>
          </a:bodyPr>
          <a:lstStyle/>
          <a:p>
            <a:pPr algn="ctr">
              <a:defRPr sz="2200" b="0">
                <a:solidFill>
                  <a:srgbClr val="B0B8CC"/>
                </a:solidFill>
                <a:latin typeface="Calibri"/>
              </a:defRPr>
            </a:pPr>
            <a:r>
              <a:t>Warsaw is the starting point. Europe is the market.</a:t>
            </a:r>
          </a:p>
        </p:txBody>
      </p:sp>
      <p:sp>
        <p:nvSpPr>
          <p:cNvPr id="5" name="Rounded Rectangle 4"/>
          <p:cNvSpPr/>
          <p:nvPr/>
        </p:nvSpPr>
        <p:spPr>
          <a:xfrm>
            <a:off x="548640" y="3017520"/>
            <a:ext cx="3291840" cy="16459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154680"/>
            <a:ext cx="2743200" cy="1371600"/>
          </a:xfrm>
          <a:prstGeom prst="rect">
            <a:avLst/>
          </a:prstGeom>
          <a:noFill/>
        </p:spPr>
        <p:txBody>
          <a:bodyPr wrap="square">
            <a:spAutoFit/>
          </a:bodyPr>
          <a:lstStyle/>
          <a:p>
            <a:pPr algn="l">
              <a:spcAft>
                <a:spcPts val="600"/>
              </a:spcAft>
              <a:defRPr sz="3600" b="1">
                <a:solidFill>
                  <a:srgbClr val="4EA8F5"/>
                </a:solidFill>
                <a:latin typeface="Calibri"/>
              </a:defRPr>
            </a:pPr>
            <a:r>
              <a:t>60%</a:t>
            </a:r>
          </a:p>
          <a:p>
            <a:pPr algn="l">
              <a:spcAft>
                <a:spcPts val="600"/>
              </a:spcAft>
              <a:defRPr sz="1600" b="1">
                <a:solidFill>
                  <a:srgbClr val="FFFFFF"/>
                </a:solidFill>
                <a:latin typeface="Calibri"/>
              </a:defRPr>
            </a:pPr>
            <a:r>
              <a:t>PRODUCT</a:t>
            </a:r>
          </a:p>
          <a:p>
            <a:pPr algn="l">
              <a:spcAft>
                <a:spcPts val="600"/>
              </a:spcAft>
              <a:defRPr sz="1400" b="0">
                <a:solidFill>
                  <a:srgbClr val="B0B8CC"/>
                </a:solidFill>
                <a:latin typeface="Calibri"/>
              </a:defRPr>
            </a:pPr>
            <a:r>
              <a:t>Hire 1-2 developers</a:t>
            </a:r>
          </a:p>
          <a:p>
            <a:pPr algn="l">
              <a:spcAft>
                <a:spcPts val="600"/>
              </a:spcAft>
              <a:defRPr sz="1400" b="0">
                <a:solidFill>
                  <a:srgbClr val="B0B8CC"/>
                </a:solidFill>
                <a:latin typeface="Calibri"/>
              </a:defRPr>
            </a:pPr>
            <a:r>
              <a:t>Ship faster</a:t>
            </a:r>
          </a:p>
        </p:txBody>
      </p:sp>
      <p:sp>
        <p:nvSpPr>
          <p:cNvPr id="7" name="Rounded Rectangle 6"/>
          <p:cNvSpPr/>
          <p:nvPr/>
        </p:nvSpPr>
        <p:spPr>
          <a:xfrm>
            <a:off x="4389120" y="3017520"/>
            <a:ext cx="3291840" cy="16459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3154680"/>
            <a:ext cx="2743200" cy="1371600"/>
          </a:xfrm>
          <a:prstGeom prst="rect">
            <a:avLst/>
          </a:prstGeom>
          <a:noFill/>
        </p:spPr>
        <p:txBody>
          <a:bodyPr wrap="square">
            <a:spAutoFit/>
          </a:bodyPr>
          <a:lstStyle/>
          <a:p>
            <a:pPr algn="l">
              <a:spcAft>
                <a:spcPts val="600"/>
              </a:spcAft>
              <a:defRPr sz="3600" b="1">
                <a:solidFill>
                  <a:srgbClr val="4EA8F5"/>
                </a:solidFill>
                <a:latin typeface="Calibri"/>
              </a:defRPr>
            </a:pPr>
            <a:r>
              <a:t>25%</a:t>
            </a:r>
          </a:p>
          <a:p>
            <a:pPr algn="l">
              <a:spcAft>
                <a:spcPts val="600"/>
              </a:spcAft>
              <a:defRPr sz="1600" b="1">
                <a:solidFill>
                  <a:srgbClr val="FFFFFF"/>
                </a:solidFill>
                <a:latin typeface="Calibri"/>
              </a:defRPr>
            </a:pPr>
            <a:r>
              <a:t>GO-TO-MARKET</a:t>
            </a:r>
          </a:p>
          <a:p>
            <a:pPr algn="l">
              <a:spcAft>
                <a:spcPts val="600"/>
              </a:spcAft>
              <a:defRPr sz="1400" b="0">
                <a:solidFill>
                  <a:srgbClr val="B0B8CC"/>
                </a:solidFill>
                <a:latin typeface="Calibri"/>
              </a:defRPr>
            </a:pPr>
            <a:r>
              <a:t>Onboard 50 schools</a:t>
            </a:r>
          </a:p>
          <a:p>
            <a:pPr algn="l">
              <a:spcAft>
                <a:spcPts val="600"/>
              </a:spcAft>
              <a:defRPr sz="1400" b="0">
                <a:solidFill>
                  <a:srgbClr val="B0B8CC"/>
                </a:solidFill>
                <a:latin typeface="Calibri"/>
              </a:defRPr>
            </a:pPr>
            <a:r>
              <a:t>in Warsaw</a:t>
            </a:r>
          </a:p>
        </p:txBody>
      </p:sp>
      <p:sp>
        <p:nvSpPr>
          <p:cNvPr id="9" name="Rounded Rectangle 8"/>
          <p:cNvSpPr/>
          <p:nvPr/>
        </p:nvSpPr>
        <p:spPr>
          <a:xfrm>
            <a:off x="8229600" y="3017520"/>
            <a:ext cx="3291840" cy="164592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3154680"/>
            <a:ext cx="2743200" cy="1371600"/>
          </a:xfrm>
          <a:prstGeom prst="rect">
            <a:avLst/>
          </a:prstGeom>
          <a:noFill/>
        </p:spPr>
        <p:txBody>
          <a:bodyPr wrap="square">
            <a:spAutoFit/>
          </a:bodyPr>
          <a:lstStyle/>
          <a:p>
            <a:pPr algn="l">
              <a:spcAft>
                <a:spcPts val="600"/>
              </a:spcAft>
              <a:defRPr sz="3600" b="1">
                <a:solidFill>
                  <a:srgbClr val="4EA8F5"/>
                </a:solidFill>
                <a:latin typeface="Calibri"/>
              </a:defRPr>
            </a:pPr>
            <a:r>
              <a:t>15%</a:t>
            </a:r>
          </a:p>
          <a:p>
            <a:pPr algn="l">
              <a:spcAft>
                <a:spcPts val="600"/>
              </a:spcAft>
              <a:defRPr sz="1600" b="1">
                <a:solidFill>
                  <a:srgbClr val="FFFFFF"/>
                </a:solidFill>
                <a:latin typeface="Calibri"/>
              </a:defRPr>
            </a:pPr>
            <a:r>
              <a:t>OPERATIONS</a:t>
            </a:r>
          </a:p>
          <a:p>
            <a:pPr algn="l">
              <a:spcAft>
                <a:spcPts val="600"/>
              </a:spcAft>
              <a:defRPr sz="1400" b="0">
                <a:solidFill>
                  <a:srgbClr val="B0B8CC"/>
                </a:solidFill>
                <a:latin typeface="Calibri"/>
              </a:defRPr>
            </a:pPr>
            <a:r>
              <a:t>Runway &amp; infra</a:t>
            </a:r>
          </a:p>
          <a:p>
            <a:pPr algn="l">
              <a:spcAft>
                <a:spcPts val="600"/>
              </a:spcAft>
              <a:defRPr sz="1400" b="0">
                <a:solidFill>
                  <a:srgbClr val="B0B8CC"/>
                </a:solidFill>
                <a:latin typeface="Calibri"/>
              </a:defRPr>
            </a:pPr>
            <a:r>
              <a:t>18-24 months</a:t>
            </a:r>
          </a:p>
        </p:txBody>
      </p:sp>
      <p:sp>
        <p:nvSpPr>
          <p:cNvPr id="11" name="Rounded Rectangle 10"/>
          <p:cNvSpPr/>
          <p:nvPr/>
        </p:nvSpPr>
        <p:spPr>
          <a:xfrm>
            <a:off x="548640" y="5029200"/>
            <a:ext cx="10972800" cy="1463040"/>
          </a:xfrm>
          <a:prstGeom prst="roundRect">
            <a:avLst>
              <a:gd name="adj" fmla="val 5000"/>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20640"/>
            <a:ext cx="10241280" cy="1280160"/>
          </a:xfrm>
          <a:prstGeom prst="rect">
            <a:avLst/>
          </a:prstGeom>
          <a:noFill/>
        </p:spPr>
        <p:txBody>
          <a:bodyPr wrap="square">
            <a:spAutoFit/>
          </a:bodyPr>
          <a:lstStyle/>
          <a:p>
            <a:pPr algn="l">
              <a:spcAft>
                <a:spcPts val="600"/>
              </a:spcAft>
              <a:defRPr sz="1400" b="1">
                <a:solidFill>
                  <a:srgbClr val="4EA8F5"/>
                </a:solidFill>
                <a:latin typeface="Calibri"/>
              </a:defRPr>
            </a:pPr>
            <a:r>
              <a:t>MILESTONES TO SEED</a:t>
            </a:r>
          </a:p>
          <a:p>
            <a:pPr algn="l">
              <a:spcAft>
                <a:spcPts val="600"/>
              </a:spcAft>
              <a:defRPr sz="600" b="0">
                <a:solidFill>
                  <a:srgbClr val="1A243B"/>
                </a:solidFill>
                <a:latin typeface="Calibri"/>
              </a:defRPr>
            </a:pPr>
          </a:p>
          <a:p>
            <a:pPr algn="ctr">
              <a:spcAft>
                <a:spcPts val="600"/>
              </a:spcAft>
              <a:defRPr sz="1800" b="0">
                <a:solidFill>
                  <a:srgbClr val="FFFFFF"/>
                </a:solidFill>
                <a:latin typeface="Calibri"/>
              </a:defRPr>
            </a:pPr>
            <a:r>
              <a:t>50 paying schools in Warsaw    ·    Prove daily usage retention    ·    Validate happy hours fill slots    ·    Seed-ready</a:t>
            </a:r>
          </a:p>
        </p:txBody>
      </p:sp>
      <p:sp>
        <p:nvSpPr>
          <p:cNvPr id="13" name="TextBox 12"/>
          <p:cNvSpPr txBox="1"/>
          <p:nvPr/>
        </p:nvSpPr>
        <p:spPr>
          <a:xfrm>
            <a:off x="548640" y="6400800"/>
            <a:ext cx="10972800" cy="365760"/>
          </a:xfrm>
          <a:prstGeom prst="rect">
            <a:avLst/>
          </a:prstGeom>
          <a:noFill/>
        </p:spPr>
        <p:txBody>
          <a:bodyPr wrap="square">
            <a:spAutoFit/>
          </a:bodyPr>
          <a:lstStyle/>
          <a:p>
            <a:pPr algn="ctr">
              <a:defRPr sz="1600" b="0">
                <a:solidFill>
                  <a:srgbClr val="647087"/>
                </a:solidFill>
                <a:latin typeface="Calibri"/>
              </a:defRPr>
            </a:pPr>
            <a:r>
              <a:t>Thank you.  —  mbartkovyak@gmail.com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